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0484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00467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India State-Wise Development Analysis</a:t>
            </a:r>
            <a:br>
              <a:rPr lang="en-US" sz="2800">
                <a:solidFill>
                  <a:srgbClr val="00467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sz="2800">
                <a:solidFill>
                  <a:srgbClr val="00467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Composite Development Index for Indian States</a:t>
            </a:r>
            <a:endParaRPr sz="2800">
              <a:solidFill>
                <a:srgbClr val="00467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88670B7-5A5D-B8E6-0D1F-13901376B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599" y="3876367"/>
            <a:ext cx="6400800" cy="1752600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Power BI Dashboard Project</a:t>
            </a:r>
          </a:p>
          <a:p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2023–24 Development Analysis</a:t>
            </a:r>
            <a:endParaRPr lang="en-IN" sz="1600">
              <a:solidFill>
                <a:schemeClr val="tx1">
                  <a:lumMod val="65000"/>
                  <a:lumOff val="3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E4439-B77E-D1EC-E9F6-1444DF7F0221}"/>
              </a:ext>
            </a:extLst>
          </p:cNvPr>
          <p:cNvSpPr txBox="1"/>
          <p:nvPr/>
        </p:nvSpPr>
        <p:spPr>
          <a:xfrm>
            <a:off x="3758380" y="4663037"/>
            <a:ext cx="1627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Prepared By:</a:t>
            </a:r>
          </a:p>
          <a:p>
            <a:pPr algn="ctr"/>
            <a:r>
              <a:rPr lang="en-IN" sz="14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Md. Shadab Ali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46679D-F0BE-ABBF-67B1-7F8012A9D62B}"/>
              </a:ext>
            </a:extLst>
          </p:cNvPr>
          <p:cNvCxnSpPr>
            <a:cxnSpLocks/>
          </p:cNvCxnSpPr>
          <p:nvPr/>
        </p:nvCxnSpPr>
        <p:spPr>
          <a:xfrm flipV="1">
            <a:off x="252000" y="3538386"/>
            <a:ext cx="8640000" cy="0"/>
          </a:xfrm>
          <a:prstGeom prst="line">
            <a:avLst/>
          </a:prstGeom>
          <a:ln w="28575">
            <a:solidFill>
              <a:srgbClr val="00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453"/>
            <a:ext cx="8229600" cy="900000"/>
          </a:xfrm>
        </p:spPr>
        <p:txBody>
          <a:bodyPr>
            <a:normAutofit/>
          </a:bodyPr>
          <a:lstStyle/>
          <a:p>
            <a:r>
              <a:rPr sz="3200">
                <a:solidFill>
                  <a:srgbClr val="00467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Project Objective</a:t>
            </a:r>
          </a:p>
        </p:txBody>
      </p:sp>
      <p:pic>
        <p:nvPicPr>
          <p:cNvPr id="7" name="Content Placeholder 6" descr="Head with gears with solid fill">
            <a:extLst>
              <a:ext uri="{FF2B5EF4-FFF2-40B4-BE49-F238E27FC236}">
                <a16:creationId xmlns:a16="http://schemas.microsoft.com/office/drawing/2014/main" id="{56EE1A7F-F19A-2210-E0AD-C051D99E3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89780" y="2344547"/>
            <a:ext cx="900000" cy="900000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07920D-01F2-B918-00AA-CFDB5A32341F}"/>
              </a:ext>
            </a:extLst>
          </p:cNvPr>
          <p:cNvSpPr/>
          <p:nvPr/>
        </p:nvSpPr>
        <p:spPr>
          <a:xfrm>
            <a:off x="589935" y="2470546"/>
            <a:ext cx="4572000" cy="30060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15"/>
              </a:spcAft>
            </a:pPr>
            <a:r>
              <a:rPr lang="en-US">
                <a:solidFill>
                  <a:schemeClr val="tx1"/>
                </a:solidFill>
              </a:rPr>
              <a:t>• Compare development levels across Indian states.</a:t>
            </a:r>
          </a:p>
          <a:p>
            <a:pPr>
              <a:spcAft>
                <a:spcPts val="115"/>
              </a:spcAft>
            </a:pPr>
            <a:r>
              <a:rPr lang="en-US">
                <a:solidFill>
                  <a:schemeClr val="tx1"/>
                </a:solidFill>
              </a:rPr>
              <a:t>• Build a Composite Development Index using multiple indicators.</a:t>
            </a:r>
          </a:p>
          <a:p>
            <a:pPr>
              <a:spcAft>
                <a:spcPts val="115"/>
              </a:spcAft>
            </a:pPr>
            <a:r>
              <a:rPr lang="en-US">
                <a:solidFill>
                  <a:schemeClr val="tx1"/>
                </a:solidFill>
              </a:rPr>
              <a:t>• Identify high-performing and low-performing states.</a:t>
            </a:r>
          </a:p>
          <a:p>
            <a:pPr>
              <a:spcAft>
                <a:spcPts val="115"/>
              </a:spcAft>
            </a:pPr>
            <a:r>
              <a:rPr lang="en-US">
                <a:solidFill>
                  <a:schemeClr val="tx1"/>
                </a:solidFill>
              </a:rPr>
              <a:t>• Analyse the relationship between income and development.</a:t>
            </a:r>
          </a:p>
          <a:p>
            <a:pPr>
              <a:spcAft>
                <a:spcPts val="115"/>
              </a:spcAft>
            </a:pPr>
            <a:r>
              <a:rPr lang="en-US">
                <a:solidFill>
                  <a:schemeClr val="tx1"/>
                </a:solidFill>
              </a:rPr>
              <a:t>• Provide evidence-based policy recommendations.</a:t>
            </a:r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570271-57DD-E86B-E06E-D561DF3FC6CB}"/>
              </a:ext>
            </a:extLst>
          </p:cNvPr>
          <p:cNvSpPr/>
          <p:nvPr/>
        </p:nvSpPr>
        <p:spPr>
          <a:xfrm>
            <a:off x="6108290" y="3244547"/>
            <a:ext cx="2286000" cy="1368000"/>
          </a:xfrm>
          <a:prstGeom prst="roundRect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5"/>
              </a:spcAft>
            </a:pPr>
            <a:r>
              <a:rPr lang="en-IN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20 States</a:t>
            </a:r>
          </a:p>
          <a:p>
            <a:pPr algn="ctr">
              <a:spcAft>
                <a:spcPts val="115"/>
              </a:spcAft>
            </a:pPr>
            <a:r>
              <a:rPr lang="en-IN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7 Indicators</a:t>
            </a:r>
          </a:p>
          <a:p>
            <a:pPr algn="ctr">
              <a:spcAft>
                <a:spcPts val="115"/>
              </a:spcAft>
            </a:pPr>
            <a:r>
              <a:rPr lang="en-IN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4 Dashboard Pages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AF990A-359B-303D-ADC4-E67D0F21B960}"/>
              </a:ext>
            </a:extLst>
          </p:cNvPr>
          <p:cNvCxnSpPr>
            <a:cxnSpLocks/>
          </p:cNvCxnSpPr>
          <p:nvPr/>
        </p:nvCxnSpPr>
        <p:spPr>
          <a:xfrm>
            <a:off x="252000" y="1471453"/>
            <a:ext cx="8640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781" y="-140110"/>
            <a:ext cx="8229600" cy="1143000"/>
          </a:xfrm>
        </p:spPr>
        <p:txBody>
          <a:bodyPr>
            <a:normAutofit/>
          </a:bodyPr>
          <a:lstStyle/>
          <a:p>
            <a:r>
              <a:rPr lang="en-IN" sz="3200">
                <a:solidFill>
                  <a:srgbClr val="00467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Indicators &amp; Weighting Framework</a:t>
            </a:r>
            <a:endParaRPr sz="3200">
              <a:solidFill>
                <a:srgbClr val="00467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D9B38B-9D77-276D-43AB-165F0EDD4122}"/>
              </a:ext>
            </a:extLst>
          </p:cNvPr>
          <p:cNvCxnSpPr>
            <a:cxnSpLocks/>
          </p:cNvCxnSpPr>
          <p:nvPr/>
        </p:nvCxnSpPr>
        <p:spPr>
          <a:xfrm>
            <a:off x="252000" y="845574"/>
            <a:ext cx="8640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9FE9D5-D432-7878-5510-9A18120D72D8}"/>
              </a:ext>
            </a:extLst>
          </p:cNvPr>
          <p:cNvSpPr/>
          <p:nvPr/>
        </p:nvSpPr>
        <p:spPr>
          <a:xfrm>
            <a:off x="746007" y="1134562"/>
            <a:ext cx="1512000" cy="648000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PCI</a:t>
            </a:r>
          </a:p>
          <a:p>
            <a:pPr algn="ctr"/>
            <a:r>
              <a:rPr lang="en-IN" b="1"/>
              <a:t>(20%)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B30958-70BB-99D4-DC48-4676C50DA446}"/>
              </a:ext>
            </a:extLst>
          </p:cNvPr>
          <p:cNvSpPr/>
          <p:nvPr/>
        </p:nvSpPr>
        <p:spPr>
          <a:xfrm>
            <a:off x="2681084" y="1134562"/>
            <a:ext cx="1512000" cy="648000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GSDP</a:t>
            </a:r>
            <a:br>
              <a:rPr lang="en-IN" b="1"/>
            </a:br>
            <a:r>
              <a:rPr lang="en-IN" b="1"/>
              <a:t>(15%)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D2C8A3-AC96-6080-3252-B3DFBD94D7C9}"/>
              </a:ext>
            </a:extLst>
          </p:cNvPr>
          <p:cNvSpPr/>
          <p:nvPr/>
        </p:nvSpPr>
        <p:spPr>
          <a:xfrm>
            <a:off x="4640825" y="1131107"/>
            <a:ext cx="1512000" cy="648000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Literacy (15%)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BB22A0-C863-DF1D-E833-0B0932200DC5}"/>
              </a:ext>
            </a:extLst>
          </p:cNvPr>
          <p:cNvSpPr/>
          <p:nvPr/>
        </p:nvSpPr>
        <p:spPr>
          <a:xfrm>
            <a:off x="6575902" y="1032091"/>
            <a:ext cx="1512000" cy="846031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Life Expectancy (15%)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0E40EC9-71C3-AF58-42B9-45403B027AC4}"/>
              </a:ext>
            </a:extLst>
          </p:cNvPr>
          <p:cNvSpPr/>
          <p:nvPr/>
        </p:nvSpPr>
        <p:spPr>
          <a:xfrm>
            <a:off x="1719644" y="1941803"/>
            <a:ext cx="1512000" cy="648000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Female LFPR (10%)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FD57B9-8678-ECA7-B0E9-AD3F6B4E5D70}"/>
              </a:ext>
            </a:extLst>
          </p:cNvPr>
          <p:cNvSpPr/>
          <p:nvPr/>
        </p:nvSpPr>
        <p:spPr>
          <a:xfrm>
            <a:off x="3652329" y="1956222"/>
            <a:ext cx="1512000" cy="648000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Internet (10%)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EEC2DDE-A3EF-0EAF-3C98-74DE109617F4}"/>
              </a:ext>
            </a:extLst>
          </p:cNvPr>
          <p:cNvSpPr/>
          <p:nvPr/>
        </p:nvSpPr>
        <p:spPr>
          <a:xfrm>
            <a:off x="5585014" y="1957449"/>
            <a:ext cx="1746888" cy="646773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Unemployment (15%)</a:t>
            </a: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A5C1319A-B2F1-7E96-BE9F-C16F72597DD5}"/>
              </a:ext>
            </a:extLst>
          </p:cNvPr>
          <p:cNvSpPr/>
          <p:nvPr/>
        </p:nvSpPr>
        <p:spPr>
          <a:xfrm rot="5400000">
            <a:off x="2968329" y="3797713"/>
            <a:ext cx="2879999" cy="805244"/>
          </a:xfrm>
          <a:prstGeom prst="chevron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bg1"/>
                </a:solidFill>
              </a:rPr>
              <a:t>Weighted Development Score Calculation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8EA6EBF-92E7-314C-D8EE-9D6EF4E17642}"/>
              </a:ext>
            </a:extLst>
          </p:cNvPr>
          <p:cNvSpPr/>
          <p:nvPr/>
        </p:nvSpPr>
        <p:spPr>
          <a:xfrm>
            <a:off x="2614795" y="5801033"/>
            <a:ext cx="3600000" cy="90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0467F"/>
                </a:solidFill>
              </a:rPr>
              <a:t>Overall Development Score</a:t>
            </a:r>
          </a:p>
          <a:p>
            <a:pPr algn="ctr"/>
            <a:r>
              <a:rPr lang="en-US" sz="2000" b="1">
                <a:solidFill>
                  <a:srgbClr val="00467F"/>
                </a:solidFill>
              </a:rPr>
              <a:t>(State Ranking Basis)</a:t>
            </a:r>
            <a:endParaRPr lang="en-IN" sz="2000" b="1">
              <a:solidFill>
                <a:srgbClr val="00467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5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7B86C-B05E-07D9-EC97-DF2E69C72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5819"/>
            <a:ext cx="8229600" cy="659427"/>
          </a:xfrm>
        </p:spPr>
        <p:txBody>
          <a:bodyPr>
            <a:normAutofit/>
          </a:bodyPr>
          <a:lstStyle/>
          <a:p>
            <a:r>
              <a:rPr lang="en-IN" sz="3200">
                <a:solidFill>
                  <a:srgbClr val="00467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Methodology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4AFBF46-559B-C4F8-9D3A-4E2254901C0F}"/>
              </a:ext>
            </a:extLst>
          </p:cNvPr>
          <p:cNvCxnSpPr>
            <a:cxnSpLocks/>
          </p:cNvCxnSpPr>
          <p:nvPr/>
        </p:nvCxnSpPr>
        <p:spPr>
          <a:xfrm>
            <a:off x="252000" y="835743"/>
            <a:ext cx="8640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120B29-EC78-A2BE-74B4-CD5CFB2F64AF}"/>
              </a:ext>
            </a:extLst>
          </p:cNvPr>
          <p:cNvSpPr/>
          <p:nvPr/>
        </p:nvSpPr>
        <p:spPr>
          <a:xfrm>
            <a:off x="457200" y="1622621"/>
            <a:ext cx="1440000" cy="648000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Data Collection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AA38D6-46EE-D391-D4B4-9D59C7AB3E29}"/>
              </a:ext>
            </a:extLst>
          </p:cNvPr>
          <p:cNvSpPr/>
          <p:nvPr/>
        </p:nvSpPr>
        <p:spPr>
          <a:xfrm>
            <a:off x="2565793" y="1622621"/>
            <a:ext cx="1580323" cy="648000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Min-Max</a:t>
            </a:r>
          </a:p>
          <a:p>
            <a:pPr algn="ctr"/>
            <a:r>
              <a:rPr lang="en-IN">
                <a:solidFill>
                  <a:schemeClr val="bg1"/>
                </a:solidFill>
              </a:rPr>
              <a:t>Normalization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FB9DED-F91A-6C3D-3AD1-8FF7822E906A}"/>
              </a:ext>
            </a:extLst>
          </p:cNvPr>
          <p:cNvSpPr/>
          <p:nvPr/>
        </p:nvSpPr>
        <p:spPr>
          <a:xfrm>
            <a:off x="4814710" y="1484506"/>
            <a:ext cx="1877964" cy="924229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Reverse</a:t>
            </a:r>
          </a:p>
          <a:p>
            <a:pPr algn="ctr"/>
            <a:r>
              <a:rPr lang="en-IN">
                <a:solidFill>
                  <a:schemeClr val="bg1"/>
                </a:solidFill>
              </a:rPr>
              <a:t>Normalization</a:t>
            </a:r>
          </a:p>
          <a:p>
            <a:pPr algn="ctr"/>
            <a:r>
              <a:rPr lang="en-IN">
                <a:solidFill>
                  <a:schemeClr val="bg1"/>
                </a:solidFill>
              </a:rPr>
              <a:t>(Unemployment)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831B5F-CCB5-BBBD-1F01-F89160460026}"/>
              </a:ext>
            </a:extLst>
          </p:cNvPr>
          <p:cNvSpPr/>
          <p:nvPr/>
        </p:nvSpPr>
        <p:spPr>
          <a:xfrm>
            <a:off x="7009547" y="2620332"/>
            <a:ext cx="1677254" cy="924225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Weighted</a:t>
            </a:r>
          </a:p>
          <a:p>
            <a:pPr algn="ctr"/>
            <a:r>
              <a:rPr lang="en-IN">
                <a:solidFill>
                  <a:schemeClr val="bg1"/>
                </a:solidFill>
              </a:rPr>
              <a:t>Score Calculation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B3D6F4-4138-2996-ABC0-5879F5BB6D76}"/>
              </a:ext>
            </a:extLst>
          </p:cNvPr>
          <p:cNvSpPr/>
          <p:nvPr/>
        </p:nvSpPr>
        <p:spPr>
          <a:xfrm>
            <a:off x="7009547" y="4183205"/>
            <a:ext cx="1677253" cy="924224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Development</a:t>
            </a:r>
          </a:p>
          <a:p>
            <a:pPr algn="ctr"/>
            <a:r>
              <a:rPr lang="en-IN">
                <a:solidFill>
                  <a:schemeClr val="bg1"/>
                </a:solidFill>
              </a:rPr>
              <a:t>Score &amp; Ranking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9D594D3-6696-C7BA-9D42-1A80C6BE3B90}"/>
              </a:ext>
            </a:extLst>
          </p:cNvPr>
          <p:cNvSpPr/>
          <p:nvPr/>
        </p:nvSpPr>
        <p:spPr>
          <a:xfrm>
            <a:off x="457199" y="2974891"/>
            <a:ext cx="6099639" cy="32249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rgbClr val="00467F"/>
                </a:solidFill>
                <a:cs typeface="Segoe UI" panose="020B0502040204020203" pitchFamily="34" charset="0"/>
              </a:rPr>
              <a:t>• State-level data was collected for seven development indicators.</a:t>
            </a:r>
          </a:p>
          <a:p>
            <a:endParaRPr lang="en-US" sz="1600" b="1">
              <a:solidFill>
                <a:srgbClr val="00467F"/>
              </a:solidFill>
              <a:cs typeface="Segoe UI" panose="020B0502040204020203" pitchFamily="34" charset="0"/>
            </a:endParaRPr>
          </a:p>
          <a:p>
            <a:r>
              <a:rPr lang="en-US" sz="1600" b="1">
                <a:solidFill>
                  <a:srgbClr val="00467F"/>
                </a:solidFill>
                <a:cs typeface="Segoe UI" panose="020B0502040204020203" pitchFamily="34" charset="0"/>
              </a:rPr>
              <a:t>• Min-Max Normalization was applied to ensure comparability across different scales.</a:t>
            </a:r>
          </a:p>
          <a:p>
            <a:endParaRPr lang="en-US" sz="1600" b="1">
              <a:solidFill>
                <a:srgbClr val="00467F"/>
              </a:solidFill>
              <a:cs typeface="Segoe UI" panose="020B0502040204020203" pitchFamily="34" charset="0"/>
            </a:endParaRPr>
          </a:p>
          <a:p>
            <a:r>
              <a:rPr lang="en-US" sz="1600" b="1">
                <a:solidFill>
                  <a:srgbClr val="00467F"/>
                </a:solidFill>
                <a:cs typeface="Segoe UI" panose="020B0502040204020203" pitchFamily="34" charset="0"/>
              </a:rPr>
              <a:t>• Unemployment was reverse-normalized because lower values indicate better performance.</a:t>
            </a:r>
          </a:p>
          <a:p>
            <a:endParaRPr lang="en-US" sz="1600" b="1">
              <a:solidFill>
                <a:srgbClr val="00467F"/>
              </a:solidFill>
              <a:cs typeface="Segoe UI" panose="020B0502040204020203" pitchFamily="34" charset="0"/>
            </a:endParaRPr>
          </a:p>
          <a:p>
            <a:r>
              <a:rPr lang="en-US" sz="1600" b="1">
                <a:solidFill>
                  <a:srgbClr val="00467F"/>
                </a:solidFill>
                <a:cs typeface="Segoe UI" panose="020B0502040204020203" pitchFamily="34" charset="0"/>
              </a:rPr>
              <a:t>• Weighted scores were calculated using predefined indicator weights.</a:t>
            </a:r>
          </a:p>
          <a:p>
            <a:endParaRPr lang="en-US" sz="1600" b="1">
              <a:solidFill>
                <a:srgbClr val="00467F"/>
              </a:solidFill>
              <a:cs typeface="Segoe UI" panose="020B0502040204020203" pitchFamily="34" charset="0"/>
            </a:endParaRPr>
          </a:p>
          <a:p>
            <a:r>
              <a:rPr lang="en-US" sz="1600" b="1">
                <a:solidFill>
                  <a:srgbClr val="00467F"/>
                </a:solidFill>
                <a:cs typeface="Segoe UI" panose="020B0502040204020203" pitchFamily="34" charset="0"/>
              </a:rPr>
              <a:t>• The final Development Score was used to rank all states.</a:t>
            </a:r>
            <a:endParaRPr lang="en-IN" sz="1600" b="1">
              <a:solidFill>
                <a:srgbClr val="00467F"/>
              </a:solidFill>
              <a:cs typeface="Segoe UI" panose="020B0502040204020203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2B9D777-F0B2-7AAE-F3A7-23F89BCB6ECB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1897200" y="1946621"/>
            <a:ext cx="6685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9DB3755-4212-E9AD-3617-04A465E10417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4146116" y="1946621"/>
            <a:ext cx="6685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20861C41-E424-A58A-4853-6014727A7696}"/>
              </a:ext>
            </a:extLst>
          </p:cNvPr>
          <p:cNvCxnSpPr>
            <a:cxnSpLocks/>
            <a:stCxn id="10" idx="3"/>
            <a:endCxn id="12" idx="0"/>
          </p:cNvCxnSpPr>
          <p:nvPr/>
        </p:nvCxnSpPr>
        <p:spPr>
          <a:xfrm>
            <a:off x="6692674" y="1946621"/>
            <a:ext cx="1155500" cy="6737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2C5FD6C-4BBB-E7AA-4468-809A8E40021B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7848174" y="3544557"/>
            <a:ext cx="0" cy="638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97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69259"/>
          </a:xfrm>
        </p:spPr>
        <p:txBody>
          <a:bodyPr>
            <a:normAutofit/>
          </a:bodyPr>
          <a:lstStyle/>
          <a:p>
            <a:r>
              <a:rPr lang="en-IN" sz="3200">
                <a:solidFill>
                  <a:srgbClr val="00467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Overview</a:t>
            </a:r>
            <a:endParaRPr sz="3200">
              <a:solidFill>
                <a:srgbClr val="00467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0" name="Picture 9" descr="Screenshot 2026-08-09 193401.png">
            <a:extLst>
              <a:ext uri="{FF2B5EF4-FFF2-40B4-BE49-F238E27FC236}">
                <a16:creationId xmlns:a16="http://schemas.microsoft.com/office/drawing/2014/main" id="{68E931B1-A6C2-D36A-E649-89760992E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470" y="2007775"/>
            <a:ext cx="6475059" cy="3629942"/>
          </a:xfrm>
          <a:prstGeom prst="rect">
            <a:avLst/>
          </a:prstGeom>
          <a:ln w="28575">
            <a:solidFill>
              <a:srgbClr val="002060"/>
            </a:solidFill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1B1A64-9B95-AAD8-51CB-3EB529B87197}"/>
              </a:ext>
            </a:extLst>
          </p:cNvPr>
          <p:cNvCxnSpPr>
            <a:cxnSpLocks/>
          </p:cNvCxnSpPr>
          <p:nvPr/>
        </p:nvCxnSpPr>
        <p:spPr>
          <a:xfrm>
            <a:off x="252000" y="669259"/>
            <a:ext cx="8640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9B77D5-874E-8AED-1467-192559E9F275}"/>
              </a:ext>
            </a:extLst>
          </p:cNvPr>
          <p:cNvSpPr/>
          <p:nvPr/>
        </p:nvSpPr>
        <p:spPr>
          <a:xfrm>
            <a:off x="358877" y="899213"/>
            <a:ext cx="2212256" cy="91897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>
                <a:solidFill>
                  <a:srgbClr val="00467F"/>
                </a:solidFill>
              </a:rPr>
              <a:t>KPI Summary:-</a:t>
            </a:r>
          </a:p>
          <a:p>
            <a:r>
              <a:rPr lang="en-US" sz="1400" b="1">
                <a:solidFill>
                  <a:srgbClr val="00467F"/>
                </a:solidFill>
              </a:rPr>
              <a:t>• Total States</a:t>
            </a:r>
          </a:p>
          <a:p>
            <a:r>
              <a:rPr lang="en-US" sz="1400" b="1">
                <a:solidFill>
                  <a:srgbClr val="00467F"/>
                </a:solidFill>
              </a:rPr>
              <a:t>• Average Score</a:t>
            </a:r>
          </a:p>
          <a:p>
            <a:r>
              <a:rPr lang="en-US" sz="1400" b="1">
                <a:solidFill>
                  <a:srgbClr val="00467F"/>
                </a:solidFill>
              </a:rPr>
              <a:t>• Highest &amp; Lowest Score</a:t>
            </a:r>
            <a:endParaRPr lang="en-IN" sz="1400" b="1">
              <a:solidFill>
                <a:srgbClr val="00467F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75828DC-CFF3-E46F-EBCE-A574B82F8F58}"/>
              </a:ext>
            </a:extLst>
          </p:cNvPr>
          <p:cNvSpPr/>
          <p:nvPr/>
        </p:nvSpPr>
        <p:spPr>
          <a:xfrm>
            <a:off x="6474543" y="879033"/>
            <a:ext cx="2212257" cy="91896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u="sng">
                <a:solidFill>
                  <a:srgbClr val="00467F"/>
                </a:solidFill>
              </a:rPr>
              <a:t>Top Performers:-</a:t>
            </a:r>
          </a:p>
          <a:p>
            <a:r>
              <a:rPr lang="en-IN" sz="1400" b="1">
                <a:solidFill>
                  <a:srgbClr val="00467F"/>
                </a:solidFill>
              </a:rPr>
              <a:t>• Tamil Nadu</a:t>
            </a:r>
          </a:p>
          <a:p>
            <a:r>
              <a:rPr lang="en-IN" sz="1400" b="1">
                <a:solidFill>
                  <a:srgbClr val="00467F"/>
                </a:solidFill>
              </a:rPr>
              <a:t>• Maharashtra</a:t>
            </a:r>
          </a:p>
          <a:p>
            <a:r>
              <a:rPr lang="en-IN" sz="1400" b="1">
                <a:solidFill>
                  <a:srgbClr val="00467F"/>
                </a:solidFill>
              </a:rPr>
              <a:t>• Kerala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EDB02F8-DEFE-6761-5735-C6DC78E16498}"/>
              </a:ext>
            </a:extLst>
          </p:cNvPr>
          <p:cNvSpPr/>
          <p:nvPr/>
        </p:nvSpPr>
        <p:spPr>
          <a:xfrm>
            <a:off x="358877" y="5827309"/>
            <a:ext cx="2593518" cy="88303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>
                <a:solidFill>
                  <a:srgbClr val="00467F"/>
                </a:solidFill>
              </a:rPr>
              <a:t>State Ranking Analysis:-</a:t>
            </a:r>
          </a:p>
          <a:p>
            <a:r>
              <a:rPr lang="en-US" sz="1400" b="1">
                <a:solidFill>
                  <a:srgbClr val="00467F"/>
                </a:solidFill>
              </a:rPr>
              <a:t>• Complete ranking of all states</a:t>
            </a:r>
          </a:p>
          <a:p>
            <a:r>
              <a:rPr lang="en-US" sz="1400" b="1">
                <a:solidFill>
                  <a:srgbClr val="00467F"/>
                </a:solidFill>
              </a:rPr>
              <a:t>• Comparative performance</a:t>
            </a:r>
            <a:endParaRPr lang="en-IN" sz="1400" b="1">
              <a:solidFill>
                <a:srgbClr val="00467F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1F8486-AE09-D817-8363-1D5572CD62D3}"/>
              </a:ext>
            </a:extLst>
          </p:cNvPr>
          <p:cNvSpPr/>
          <p:nvPr/>
        </p:nvSpPr>
        <p:spPr>
          <a:xfrm>
            <a:off x="6474543" y="5827309"/>
            <a:ext cx="2212257" cy="88303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u="sng">
                <a:solidFill>
                  <a:srgbClr val="00467F"/>
                </a:solidFill>
              </a:rPr>
              <a:t>Bottom Performers:-</a:t>
            </a:r>
          </a:p>
          <a:p>
            <a:r>
              <a:rPr lang="en-IN" sz="1400" b="1">
                <a:solidFill>
                  <a:srgbClr val="00467F"/>
                </a:solidFill>
              </a:rPr>
              <a:t>• Bihar</a:t>
            </a:r>
          </a:p>
          <a:p>
            <a:r>
              <a:rPr lang="en-IN" sz="1400" b="1">
                <a:solidFill>
                  <a:srgbClr val="00467F"/>
                </a:solidFill>
              </a:rPr>
              <a:t>• Andhra Pradesh</a:t>
            </a:r>
          </a:p>
          <a:p>
            <a:r>
              <a:rPr lang="en-IN" sz="1400" b="1">
                <a:solidFill>
                  <a:srgbClr val="00467F"/>
                </a:solidFill>
              </a:rPr>
              <a:t>• West Bengal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6E2A5C3-0853-67F0-4E3B-27A11396B474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H="1" flipV="1">
            <a:off x="358877" y="1358698"/>
            <a:ext cx="1106128" cy="1325508"/>
          </a:xfrm>
          <a:prstGeom prst="bentConnector4">
            <a:avLst>
              <a:gd name="adj1" fmla="val -12667"/>
              <a:gd name="adj2" fmla="val 992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645391B1-0A34-9672-5D76-F7CAD6B1D474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7698661" y="1338518"/>
            <a:ext cx="988139" cy="2484227"/>
          </a:xfrm>
          <a:prstGeom prst="bentConnector4">
            <a:avLst>
              <a:gd name="adj1" fmla="val -14179"/>
              <a:gd name="adj2" fmla="val 1000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BADDF329-0911-6882-22BE-F274BB0BAAF1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97032" y="4978430"/>
            <a:ext cx="950509" cy="747249"/>
          </a:xfrm>
          <a:prstGeom prst="bentConnector3">
            <a:avLst>
              <a:gd name="adj1" fmla="val 1006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A03C58D-2EA5-E407-0670-502F4EFE113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55571" y="4717875"/>
            <a:ext cx="1491283" cy="727586"/>
          </a:xfrm>
          <a:prstGeom prst="bentConnector3">
            <a:avLst>
              <a:gd name="adj1" fmla="val 1001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90601"/>
          </a:xfrm>
        </p:spPr>
        <p:txBody>
          <a:bodyPr>
            <a:normAutofit/>
          </a:bodyPr>
          <a:lstStyle/>
          <a:p>
            <a:r>
              <a:rPr sz="3200">
                <a:solidFill>
                  <a:srgbClr val="00467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Development Drivers &amp; State Scorecard</a:t>
            </a:r>
          </a:p>
        </p:txBody>
      </p:sp>
      <p:pic>
        <p:nvPicPr>
          <p:cNvPr id="4" name="Picture 3" descr="Screenshot 2026-08-09 193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8" y="1231048"/>
            <a:ext cx="5430038" cy="3783404"/>
          </a:xfrm>
          <a:prstGeom prst="rect">
            <a:avLst/>
          </a:prstGeom>
          <a:ln w="28575">
            <a:solidFill>
              <a:srgbClr val="002060"/>
            </a:solidFill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9993BD6-1DDF-99AF-1213-BC3E9D1DA289}"/>
              </a:ext>
            </a:extLst>
          </p:cNvPr>
          <p:cNvCxnSpPr>
            <a:cxnSpLocks/>
          </p:cNvCxnSpPr>
          <p:nvPr/>
        </p:nvCxnSpPr>
        <p:spPr>
          <a:xfrm>
            <a:off x="252000" y="668594"/>
            <a:ext cx="8640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7E2C11-E42B-A18F-D0F1-4C71C01A2448}"/>
              </a:ext>
            </a:extLst>
          </p:cNvPr>
          <p:cNvSpPr/>
          <p:nvPr/>
        </p:nvSpPr>
        <p:spPr>
          <a:xfrm>
            <a:off x="5785004" y="1157305"/>
            <a:ext cx="3205318" cy="504684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r>
              <a:rPr lang="en-US" u="sng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Analytical Findings:-</a:t>
            </a:r>
          </a:p>
          <a:p>
            <a:pPr algn="ctr">
              <a:spcAft>
                <a:spcPts val="100"/>
              </a:spcAft>
            </a:pPr>
            <a:endParaRPr lang="en-US" sz="1600" u="sng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100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Development Score generally rises with higher Per Capita Income.</a:t>
            </a:r>
            <a:endParaRPr lang="en-US" sz="8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00"/>
              </a:spcAft>
            </a:pPr>
            <a:endParaRPr lang="en-US" sz="9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00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The scatter plot shows a positive association between income and development.</a:t>
            </a:r>
          </a:p>
          <a:p>
            <a:pPr>
              <a:spcAft>
                <a:spcPts val="100"/>
              </a:spcAft>
            </a:pPr>
            <a:endParaRPr lang="en-US" sz="9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00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High-performing states maintain balanced performance across multiple indicators.</a:t>
            </a:r>
          </a:p>
          <a:p>
            <a:pPr>
              <a:spcAft>
                <a:spcPts val="100"/>
              </a:spcAft>
            </a:pPr>
            <a:endParaRPr lang="en-US" sz="9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00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Lower-ranked states lag across several indicators simultaneously.</a:t>
            </a:r>
          </a:p>
          <a:p>
            <a:pPr>
              <a:spcAft>
                <a:spcPts val="100"/>
              </a:spcAft>
            </a:pPr>
            <a:endParaRPr lang="en-US" sz="9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00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Balanced development contributes more to rankings than excellence in a single metric.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9058CE-1C5F-9A0F-8D0C-797B7041F469}"/>
              </a:ext>
            </a:extLst>
          </p:cNvPr>
          <p:cNvSpPr/>
          <p:nvPr/>
        </p:nvSpPr>
        <p:spPr>
          <a:xfrm>
            <a:off x="1041714" y="5201264"/>
            <a:ext cx="3530286" cy="1465007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Observation:-</a:t>
            </a:r>
          </a:p>
          <a:p>
            <a:pPr algn="ctr"/>
            <a:endParaRPr lang="en-US" sz="8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Income and Development show a positive relationship.</a:t>
            </a:r>
            <a:endParaRPr lang="en-IN" sz="14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68"/>
            <a:ext cx="8229600" cy="722670"/>
          </a:xfrm>
        </p:spPr>
        <p:txBody>
          <a:bodyPr>
            <a:normAutofit/>
          </a:bodyPr>
          <a:lstStyle/>
          <a:p>
            <a:r>
              <a:rPr sz="3200">
                <a:solidFill>
                  <a:srgbClr val="00467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Regional Development Analysis</a:t>
            </a:r>
          </a:p>
        </p:txBody>
      </p:sp>
      <p:pic>
        <p:nvPicPr>
          <p:cNvPr id="4" name="Picture 3" descr="Screenshot 2026-08-09 1935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268087"/>
            <a:ext cx="6135821" cy="4159317"/>
          </a:xfrm>
          <a:prstGeom prst="rect">
            <a:avLst/>
          </a:prstGeom>
          <a:ln w="28575">
            <a:solidFill>
              <a:srgbClr val="002060"/>
            </a:solidFill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9926681-2212-6873-A819-F90D2BDC4E49}"/>
              </a:ext>
            </a:extLst>
          </p:cNvPr>
          <p:cNvCxnSpPr>
            <a:cxnSpLocks/>
          </p:cNvCxnSpPr>
          <p:nvPr/>
        </p:nvCxnSpPr>
        <p:spPr>
          <a:xfrm>
            <a:off x="252000" y="722006"/>
            <a:ext cx="8640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73F1B2-CDBE-9F26-5393-2FB196EBB1BA}"/>
              </a:ext>
            </a:extLst>
          </p:cNvPr>
          <p:cNvSpPr/>
          <p:nvPr/>
        </p:nvSpPr>
        <p:spPr>
          <a:xfrm>
            <a:off x="6457343" y="1052095"/>
            <a:ext cx="2549497" cy="562207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u="sng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Regional Insights:-</a:t>
            </a:r>
          </a:p>
          <a:p>
            <a:pPr algn="ctr"/>
            <a:endParaRPr lang="en-IN" sz="1000" u="sng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Tamil Nadu achieved the highest Development Score among the analyzed states.</a:t>
            </a:r>
          </a:p>
          <a:p>
            <a:pPr>
              <a:spcAft>
                <a:spcPts val="115"/>
              </a:spcAft>
            </a:pPr>
            <a:endParaRPr lang="en-US" sz="5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Maharashtra and Kerala also ranked among the strongest performers.</a:t>
            </a:r>
          </a:p>
          <a:p>
            <a:pPr>
              <a:spcAft>
                <a:spcPts val="115"/>
              </a:spcAft>
            </a:pPr>
            <a:endParaRPr lang="en-US" sz="5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Bihar recorded the lowest Development Score.</a:t>
            </a:r>
          </a:p>
          <a:p>
            <a:pPr>
              <a:spcAft>
                <a:spcPts val="115"/>
              </a:spcAft>
            </a:pPr>
            <a:endParaRPr lang="en-US" sz="5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Development performance varies significantly across states.</a:t>
            </a:r>
          </a:p>
          <a:p>
            <a:pPr>
              <a:spcAft>
                <a:spcPts val="115"/>
              </a:spcAft>
            </a:pPr>
            <a:endParaRPr lang="en-US" sz="5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The treemap highlights the relative contribution of states to overall development outcomes.</a:t>
            </a:r>
          </a:p>
          <a:p>
            <a:pPr>
              <a:spcAft>
                <a:spcPts val="115"/>
              </a:spcAft>
            </a:pPr>
            <a:endParaRPr lang="en-US" sz="5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The ribbon chart clearly visualizes differences in state rankings.</a:t>
            </a:r>
            <a:endParaRPr lang="en-IN" sz="14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A6DA72-C755-C965-8296-255D451F45A1}"/>
              </a:ext>
            </a:extLst>
          </p:cNvPr>
          <p:cNvSpPr/>
          <p:nvPr/>
        </p:nvSpPr>
        <p:spPr>
          <a:xfrm>
            <a:off x="2059612" y="5597814"/>
            <a:ext cx="2290916" cy="1076359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"/>
              </a:spcAft>
            </a:pPr>
            <a:r>
              <a:rPr lang="en-US" sz="1600" b="1" u="sng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Top State:</a:t>
            </a:r>
            <a:r>
              <a:rPr lang="en-US" sz="1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Tamil Nadu</a:t>
            </a:r>
          </a:p>
          <a:p>
            <a:pPr>
              <a:spcAft>
                <a:spcPts val="100"/>
              </a:spcAft>
            </a:pPr>
            <a:endParaRPr lang="en-US" sz="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00"/>
              </a:spcAft>
            </a:pPr>
            <a:r>
              <a:rPr lang="en-US" sz="1600" b="1" u="sng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Bottom State:</a:t>
            </a:r>
            <a:r>
              <a:rPr lang="en-US" sz="1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Bihar</a:t>
            </a:r>
            <a:endParaRPr lang="en-IN" sz="14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6372"/>
            <a:ext cx="8229600" cy="305465"/>
          </a:xfrm>
        </p:spPr>
        <p:txBody>
          <a:bodyPr>
            <a:noAutofit/>
          </a:bodyPr>
          <a:lstStyle/>
          <a:p>
            <a:r>
              <a:rPr sz="3200">
                <a:solidFill>
                  <a:srgbClr val="00467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Policy Recommendations &amp; Strategic Priorities</a:t>
            </a:r>
          </a:p>
        </p:txBody>
      </p:sp>
      <p:pic>
        <p:nvPicPr>
          <p:cNvPr id="4" name="Picture 3" descr="Screenshot 2026-08-09 1935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00" y="1467465"/>
            <a:ext cx="5775174" cy="3923070"/>
          </a:xfrm>
          <a:prstGeom prst="rect">
            <a:avLst/>
          </a:prstGeom>
          <a:ln w="28575">
            <a:solidFill>
              <a:srgbClr val="002060"/>
            </a:solidFill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5E9FC4-0723-FA3B-5DF2-25B1F9754A85}"/>
              </a:ext>
            </a:extLst>
          </p:cNvPr>
          <p:cNvCxnSpPr>
            <a:cxnSpLocks/>
          </p:cNvCxnSpPr>
          <p:nvPr/>
        </p:nvCxnSpPr>
        <p:spPr>
          <a:xfrm>
            <a:off x="252000" y="1170039"/>
            <a:ext cx="8640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36ECCA-09F7-1BD4-F416-5023E30688F7}"/>
              </a:ext>
            </a:extLst>
          </p:cNvPr>
          <p:cNvSpPr/>
          <p:nvPr/>
        </p:nvSpPr>
        <p:spPr>
          <a:xfrm>
            <a:off x="6261871" y="1467465"/>
            <a:ext cx="2630129" cy="468752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u="sng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Policy Priorities:-</a:t>
            </a:r>
          </a:p>
          <a:p>
            <a:pPr algn="ctr"/>
            <a:endParaRPr lang="en-IN" sz="1000" u="sng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Improve education quality and literacy outcomes.</a:t>
            </a:r>
          </a:p>
          <a:p>
            <a:pPr>
              <a:spcAft>
                <a:spcPts val="115"/>
              </a:spcAft>
            </a:pPr>
            <a:endParaRPr lang="en-US" sz="6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Strengthen healthcare infrastructure and access.</a:t>
            </a:r>
          </a:p>
          <a:p>
            <a:pPr>
              <a:spcAft>
                <a:spcPts val="115"/>
              </a:spcAft>
            </a:pPr>
            <a:endParaRPr lang="en-US" sz="6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Expand digital connectivity and internet penetration.</a:t>
            </a:r>
          </a:p>
          <a:p>
            <a:pPr>
              <a:spcAft>
                <a:spcPts val="115"/>
              </a:spcAft>
            </a:pPr>
            <a:endParaRPr lang="en-US" sz="6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Increase female labour force participation.</a:t>
            </a:r>
          </a:p>
          <a:p>
            <a:pPr>
              <a:spcAft>
                <a:spcPts val="115"/>
              </a:spcAft>
            </a:pPr>
            <a:endParaRPr lang="en-US" sz="6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Promote employment generation and skill development.</a:t>
            </a:r>
          </a:p>
          <a:p>
            <a:pPr>
              <a:spcAft>
                <a:spcPts val="115"/>
              </a:spcAft>
            </a:pPr>
            <a:endParaRPr lang="en-US" sz="4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Encourage balanced growth across economic and social indicators.</a:t>
            </a:r>
            <a:endParaRPr lang="en-IN" sz="14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801732-C226-3D0C-C0E1-3B5F09D8BFF7}"/>
              </a:ext>
            </a:extLst>
          </p:cNvPr>
          <p:cNvSpPr/>
          <p:nvPr/>
        </p:nvSpPr>
        <p:spPr>
          <a:xfrm>
            <a:off x="1990786" y="5512473"/>
            <a:ext cx="2089601" cy="1232346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"/>
              </a:spcAft>
            </a:pPr>
            <a:r>
              <a:rPr lang="en-US" sz="1600" b="1" u="sng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Target Outcome:-</a:t>
            </a:r>
          </a:p>
          <a:p>
            <a:pPr>
              <a:spcAft>
                <a:spcPts val="100"/>
              </a:spcAft>
            </a:pPr>
            <a:endParaRPr lang="en-US" sz="5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00"/>
              </a:spcAft>
            </a:pPr>
            <a:r>
              <a:rPr lang="en-US" sz="1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Higher Development</a:t>
            </a:r>
          </a:p>
          <a:p>
            <a:pPr>
              <a:spcAft>
                <a:spcPts val="100"/>
              </a:spcAft>
            </a:pPr>
            <a:r>
              <a:rPr lang="en-US" sz="1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Scores &amp; Better</a:t>
            </a:r>
          </a:p>
          <a:p>
            <a:pPr>
              <a:spcAft>
                <a:spcPts val="100"/>
              </a:spcAft>
            </a:pPr>
            <a:r>
              <a:rPr lang="en-US" sz="1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Quality of Life</a:t>
            </a:r>
            <a:endParaRPr lang="en-IN" sz="14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578"/>
            <a:ext cx="8229600" cy="669259"/>
          </a:xfrm>
        </p:spPr>
        <p:txBody>
          <a:bodyPr>
            <a:normAutofit/>
          </a:bodyPr>
          <a:lstStyle/>
          <a:p>
            <a:r>
              <a:rPr lang="en-IN" sz="3200">
                <a:solidFill>
                  <a:srgbClr val="00467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Major Findings &amp; Key Takeaways</a:t>
            </a:r>
            <a:endParaRPr sz="3200">
              <a:solidFill>
                <a:srgbClr val="00467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932422-4935-9ED9-6739-30B03C6A8C3C}"/>
              </a:ext>
            </a:extLst>
          </p:cNvPr>
          <p:cNvCxnSpPr>
            <a:cxnSpLocks/>
          </p:cNvCxnSpPr>
          <p:nvPr/>
        </p:nvCxnSpPr>
        <p:spPr>
          <a:xfrm>
            <a:off x="252000" y="796413"/>
            <a:ext cx="8640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8E1E89-D10F-C59C-DFA9-A7284FCED6A3}"/>
              </a:ext>
            </a:extLst>
          </p:cNvPr>
          <p:cNvSpPr/>
          <p:nvPr/>
        </p:nvSpPr>
        <p:spPr>
          <a:xfrm>
            <a:off x="373627" y="1229031"/>
            <a:ext cx="3687096" cy="38345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u="sng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Major Findings:-</a:t>
            </a:r>
          </a:p>
          <a:p>
            <a:pPr algn="ctr"/>
            <a:endParaRPr lang="en-IN" sz="1000" u="sng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Tamil Nadu achieved the highest Development Score.</a:t>
            </a:r>
          </a:p>
          <a:p>
            <a:pPr>
              <a:spcAft>
                <a:spcPts val="115"/>
              </a:spcAft>
            </a:pPr>
            <a:endParaRPr lang="en-US" sz="5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Maharashtra and Kerala consistently ranked among the strongest performers.</a:t>
            </a:r>
          </a:p>
          <a:p>
            <a:pPr>
              <a:spcAft>
                <a:spcPts val="115"/>
              </a:spcAft>
            </a:pPr>
            <a:endParaRPr lang="en-US" sz="5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Bihar recorded the lowest Development Score.</a:t>
            </a:r>
          </a:p>
          <a:p>
            <a:pPr>
              <a:spcAft>
                <a:spcPts val="115"/>
              </a:spcAft>
            </a:pPr>
            <a:endParaRPr lang="en-US" sz="5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Development performance varies significantly across states.</a:t>
            </a:r>
          </a:p>
          <a:p>
            <a:pPr>
              <a:spcAft>
                <a:spcPts val="115"/>
              </a:spcAft>
            </a:pPr>
            <a:endParaRPr lang="en-US" sz="5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Higher Per Capita Income is generally associated with higher Development Scores.</a:t>
            </a:r>
            <a:endParaRPr lang="en-IN" sz="14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CEF475-E1B9-D5EA-3791-61E0380191B8}"/>
              </a:ext>
            </a:extLst>
          </p:cNvPr>
          <p:cNvSpPr/>
          <p:nvPr/>
        </p:nvSpPr>
        <p:spPr>
          <a:xfrm>
            <a:off x="4999704" y="1229031"/>
            <a:ext cx="3687096" cy="38345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u="sng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Takeaways:-</a:t>
            </a:r>
          </a:p>
          <a:p>
            <a:pPr algn="ctr"/>
            <a:endParaRPr lang="en-IN" sz="1300" u="sng"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Development is multi-dimensional.</a:t>
            </a:r>
          </a:p>
          <a:p>
            <a:pPr>
              <a:spcAft>
                <a:spcPts val="115"/>
              </a:spcAft>
            </a:pPr>
            <a:endParaRPr lang="en-US" sz="8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Balanced performance across indicators leads to stronger outcomes.</a:t>
            </a:r>
          </a:p>
          <a:p>
            <a:pPr>
              <a:spcAft>
                <a:spcPts val="115"/>
              </a:spcAft>
            </a:pPr>
            <a:endParaRPr lang="en-US" sz="8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Economic growth alone is not sufficient.</a:t>
            </a:r>
          </a:p>
          <a:p>
            <a:pPr>
              <a:spcAft>
                <a:spcPts val="115"/>
              </a:spcAft>
            </a:pPr>
            <a:endParaRPr lang="en-US" sz="8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Social and human development indicators remain critical.</a:t>
            </a:r>
          </a:p>
          <a:p>
            <a:pPr>
              <a:spcAft>
                <a:spcPts val="115"/>
              </a:spcAft>
            </a:pPr>
            <a:endParaRPr lang="en-US" sz="8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15"/>
              </a:spcAft>
            </a:pPr>
            <a:r>
              <a:rPr lang="en-US" sz="14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Data-driven analysis can support better policy decisions.</a:t>
            </a:r>
            <a:endParaRPr lang="en-IN" sz="14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B3B8B6-2411-C0C7-3DF2-DEC56A98BFBE}"/>
              </a:ext>
            </a:extLst>
          </p:cNvPr>
          <p:cNvSpPr/>
          <p:nvPr/>
        </p:nvSpPr>
        <p:spPr>
          <a:xfrm>
            <a:off x="943896" y="5384763"/>
            <a:ext cx="7256207" cy="1232346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r>
              <a:rPr lang="en-US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Composite Development Scores provide a holistic view of state-level development.</a:t>
            </a:r>
            <a:endParaRPr lang="en-IN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50690B0-5AD7-9502-FC89-301A6AF68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578"/>
            <a:ext cx="8229600" cy="669259"/>
          </a:xfrm>
        </p:spPr>
        <p:txBody>
          <a:bodyPr>
            <a:normAutofit/>
          </a:bodyPr>
          <a:lstStyle/>
          <a:p>
            <a:r>
              <a:rPr lang="en-IN" sz="3200">
                <a:solidFill>
                  <a:srgbClr val="00467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Limitations of the Study</a:t>
            </a:r>
            <a:endParaRPr sz="3200">
              <a:solidFill>
                <a:srgbClr val="00467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4D766E-108A-32C2-892D-D4CF237A668D}"/>
              </a:ext>
            </a:extLst>
          </p:cNvPr>
          <p:cNvCxnSpPr>
            <a:cxnSpLocks/>
          </p:cNvCxnSpPr>
          <p:nvPr/>
        </p:nvCxnSpPr>
        <p:spPr>
          <a:xfrm>
            <a:off x="252000" y="796413"/>
            <a:ext cx="8640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B3FBEC2-2195-2998-6B52-4634E5284D2A}"/>
              </a:ext>
            </a:extLst>
          </p:cNvPr>
          <p:cNvSpPr/>
          <p:nvPr/>
        </p:nvSpPr>
        <p:spPr>
          <a:xfrm>
            <a:off x="673509" y="1268362"/>
            <a:ext cx="3318387" cy="1396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Availability:-</a:t>
            </a:r>
          </a:p>
          <a:p>
            <a:pPr algn="ctr"/>
            <a:endParaRPr lang="en-US" sz="10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5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analysis was limited to the selected indicators and available state-level data.</a:t>
            </a:r>
            <a:endParaRPr lang="en-IN" sz="15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1C476E-54EA-C0CA-8F1F-30F976263BE2}"/>
              </a:ext>
            </a:extLst>
          </p:cNvPr>
          <p:cNvSpPr/>
          <p:nvPr/>
        </p:nvSpPr>
        <p:spPr>
          <a:xfrm>
            <a:off x="5073446" y="3318438"/>
            <a:ext cx="3318387" cy="1396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Static Analysis:-</a:t>
            </a:r>
          </a:p>
          <a:p>
            <a:pPr algn="ctr"/>
            <a:endParaRPr lang="en-US" sz="10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5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study reflects a specific time period and does not capture future changes.</a:t>
            </a:r>
            <a:endParaRPr lang="en-IN" sz="15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62C68E-6372-4139-9F33-0FC9BEDE1054}"/>
              </a:ext>
            </a:extLst>
          </p:cNvPr>
          <p:cNvSpPr/>
          <p:nvPr/>
        </p:nvSpPr>
        <p:spPr>
          <a:xfrm>
            <a:off x="673509" y="3318438"/>
            <a:ext cx="3318387" cy="1396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Limited Coverage:-</a:t>
            </a:r>
          </a:p>
          <a:p>
            <a:pPr algn="ctr"/>
            <a:endParaRPr lang="en-US" sz="10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5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Only 20 states were included in the analysis.</a:t>
            </a:r>
            <a:endParaRPr lang="en-IN" sz="15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1EB37D0-302F-8ABC-3F53-655BD1DE3204}"/>
              </a:ext>
            </a:extLst>
          </p:cNvPr>
          <p:cNvSpPr/>
          <p:nvPr/>
        </p:nvSpPr>
        <p:spPr>
          <a:xfrm>
            <a:off x="5073447" y="1268362"/>
            <a:ext cx="3318387" cy="1396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Weight Assumptions:-</a:t>
            </a:r>
          </a:p>
          <a:p>
            <a:pPr algn="ctr"/>
            <a:endParaRPr lang="en-US" sz="10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50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Indicator weights were predefined and may influence final rankings.</a:t>
            </a:r>
            <a:endParaRPr lang="en-IN" sz="15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54BF7D-A611-021D-BDE1-F0FC560AF351}"/>
              </a:ext>
            </a:extLst>
          </p:cNvPr>
          <p:cNvSpPr/>
          <p:nvPr/>
        </p:nvSpPr>
        <p:spPr>
          <a:xfrm>
            <a:off x="943896" y="5276608"/>
            <a:ext cx="7256207" cy="1232346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r>
              <a:rPr lang="en-US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Despite these limitations, the framework provides a useful comparative assessment of state-level development.</a:t>
            </a:r>
            <a:endParaRPr lang="en-IN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18CD801-B9B0-2411-AE25-05A27B177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6" y="270552"/>
            <a:ext cx="8229600" cy="669259"/>
          </a:xfrm>
        </p:spPr>
        <p:txBody>
          <a:bodyPr>
            <a:normAutofit/>
          </a:bodyPr>
          <a:lstStyle/>
          <a:p>
            <a:r>
              <a:rPr lang="en-IN" sz="3200">
                <a:solidFill>
                  <a:srgbClr val="00467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Conclusion</a:t>
            </a:r>
            <a:endParaRPr sz="3200">
              <a:solidFill>
                <a:srgbClr val="00467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FC5EF9-CB94-1636-461D-3497B71CB094}"/>
              </a:ext>
            </a:extLst>
          </p:cNvPr>
          <p:cNvCxnSpPr>
            <a:cxnSpLocks/>
          </p:cNvCxnSpPr>
          <p:nvPr/>
        </p:nvCxnSpPr>
        <p:spPr>
          <a:xfrm>
            <a:off x="251996" y="949588"/>
            <a:ext cx="8640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C9915B-03B8-063A-8811-28502C64F176}"/>
              </a:ext>
            </a:extLst>
          </p:cNvPr>
          <p:cNvSpPr/>
          <p:nvPr/>
        </p:nvSpPr>
        <p:spPr>
          <a:xfrm>
            <a:off x="604679" y="1866725"/>
            <a:ext cx="7934631" cy="29004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1.)</a:t>
            </a:r>
            <a:r>
              <a:rPr lang="en-US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This project successfully developed a Composite Development Index to compare development performance across Indian states.</a:t>
            </a:r>
          </a:p>
          <a:p>
            <a:endParaRPr lang="en-US" sz="10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2.) </a:t>
            </a:r>
            <a:r>
              <a:rPr lang="en-US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analysis demonstrated that development is multi-dimensional and influenced by economic, educational, health, social, and digital factors.</a:t>
            </a:r>
          </a:p>
          <a:p>
            <a:endParaRPr lang="en-US" sz="100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3.) </a:t>
            </a:r>
            <a:r>
              <a:rPr lang="en-US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Power BI dashboard provides an interactive framework for understanding development disparities and supporting evidence-based policy decisions.</a:t>
            </a:r>
            <a:endParaRPr lang="en-IN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D2BCFE4-79DD-DACC-6B6B-1FB716A34448}"/>
              </a:ext>
            </a:extLst>
          </p:cNvPr>
          <p:cNvSpPr/>
          <p:nvPr/>
        </p:nvSpPr>
        <p:spPr>
          <a:xfrm>
            <a:off x="2349905" y="5222118"/>
            <a:ext cx="4444181" cy="1232346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r>
              <a:rPr lang="en-US" sz="2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  <a:p>
            <a:pPr algn="ctr">
              <a:spcAft>
                <a:spcPts val="100"/>
              </a:spcAft>
            </a:pPr>
            <a:r>
              <a:rPr lang="en-US" sz="2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Questions &amp; Discussion</a:t>
            </a:r>
            <a:endParaRPr lang="en-IN" sz="22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Graphic 12" descr="Research with solid fill">
            <a:extLst>
              <a:ext uri="{FF2B5EF4-FFF2-40B4-BE49-F238E27FC236}">
                <a16:creationId xmlns:a16="http://schemas.microsoft.com/office/drawing/2014/main" id="{3BA88F75-8E1A-08C1-D9E0-4306F8ECB2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457196" y="1178467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725</Words>
  <Application>Microsoft Office PowerPoint</Application>
  <PresentationFormat>On-screen Show (4:3)</PresentationFormat>
  <Paragraphs>159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</vt:lpstr>
      <vt:lpstr>Segoe UI Semibold</vt:lpstr>
      <vt:lpstr>Office Theme</vt:lpstr>
      <vt:lpstr>India State-Wise Development Analysis A Composite Development Index for Indian States</vt:lpstr>
      <vt:lpstr>Project Objective</vt:lpstr>
      <vt:lpstr>Indicators &amp; Weighting Framework</vt:lpstr>
      <vt:lpstr>Methodology</vt:lpstr>
      <vt:lpstr>Dashboard Overview</vt:lpstr>
      <vt:lpstr>Development Drivers &amp; State Scorecard</vt:lpstr>
      <vt:lpstr>Regional Development Analysis</vt:lpstr>
      <vt:lpstr>Policy Recommendations &amp; Strategic Priorities</vt:lpstr>
      <vt:lpstr>Major Findings &amp; Key Takeaways</vt:lpstr>
      <vt:lpstr>Limitations of the Study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Md.Shadab Ali</cp:lastModifiedBy>
  <cp:revision>46</cp:revision>
  <dcterms:created xsi:type="dcterms:W3CDTF">2013-01-27T09:14:16Z</dcterms:created>
  <dcterms:modified xsi:type="dcterms:W3CDTF">2026-08-13T17:28:45Z</dcterms:modified>
  <cp:category/>
</cp:coreProperties>
</file>